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6"/>
  </p:notesMasterIdLst>
  <p:sldIdLst>
    <p:sldId id="2689" r:id="rId2"/>
    <p:sldId id="2763" r:id="rId3"/>
    <p:sldId id="2754" r:id="rId4"/>
    <p:sldId id="2760" r:id="rId5"/>
    <p:sldId id="2765" r:id="rId6"/>
    <p:sldId id="2766" r:id="rId7"/>
    <p:sldId id="2767" r:id="rId8"/>
    <p:sldId id="2768" r:id="rId9"/>
    <p:sldId id="2770" r:id="rId10"/>
    <p:sldId id="2771" r:id="rId11"/>
    <p:sldId id="2769" r:id="rId12"/>
    <p:sldId id="2764" r:id="rId13"/>
    <p:sldId id="2772" r:id="rId14"/>
    <p:sldId id="2739" r:id="rId15"/>
  </p:sldIdLst>
  <p:sldSz cx="12858750" cy="7232650"/>
  <p:notesSz cx="6858000" cy="9144000"/>
  <p:custDataLst>
    <p:tags r:id="rId1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5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4859"/>
    <a:srgbClr val="EA5454"/>
    <a:srgbClr val="F18D3B"/>
    <a:srgbClr val="F8B566"/>
    <a:srgbClr val="008C8A"/>
    <a:srgbClr val="005D40"/>
    <a:srgbClr val="F29548"/>
    <a:srgbClr val="EE7919"/>
    <a:srgbClr val="EB6300"/>
    <a:srgbClr val="4AB0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4" autoAdjust="0"/>
    <p:restoredTop sz="92986" autoAdjust="0"/>
  </p:normalViewPr>
  <p:slideViewPr>
    <p:cSldViewPr>
      <p:cViewPr varScale="1">
        <p:scale>
          <a:sx n="84" d="100"/>
          <a:sy n="84" d="100"/>
        </p:scale>
        <p:origin x="317" y="77"/>
      </p:cViewPr>
      <p:guideLst>
        <p:guide orient="horz" pos="373"/>
        <p:guide pos="4050"/>
        <p:guide pos="557"/>
        <p:guide orient="horz" pos="4183"/>
        <p:guide pos="7588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2025/4/14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457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A263E-2BAB-028E-C466-34C1AB74B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7EE48F-CEDF-7D18-A3C6-0E48FA37F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9DCBA4-A180-F538-DD42-D3E689E66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2B6EB6-E480-A2F1-7DF5-480FA0C49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017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D2BCB-1D0E-5B58-B9FC-29432A2A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086B41-2057-1255-DEFE-66EEBA67E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F1942C-C829-DD57-CCFC-A7B665248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740FB6-5537-AF59-88EE-F6AE90B24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301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8C24F-4C42-3F6C-E571-F404A88E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022FA-4D98-5039-DE91-792B52F9A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A8780-2775-9E01-1C4A-E0C4D8861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https://blog.csdn.net/weixin_40774379/article/details/139133605</a:t>
            </a:r>
            <a:endParaRPr lang="en-US" dirty="0"/>
          </a:p>
          <a:p>
            <a:r>
              <a:rPr lang="id-ID" dirty="0"/>
              <a:t>https://zhuanlan.zhihu.com/p/692971105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8E86E-4254-E275-A77A-64F3A0C62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151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0CE2-8871-5965-2B5E-9E37EB79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BED92-A72A-588E-02EC-308F607EF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F9F46-DB1C-83C5-48AA-1A22620F9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A06D7-8659-51F6-A23D-5CFD07364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774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0D320-4B33-1C66-02E6-499A51FC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8AC5C-32F4-FDDA-5893-5E577C34F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8ECF5-48EC-6597-2468-EBC3C5DF1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F11D2-078F-9556-6212-6C55299B66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621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425E5-238B-7B1D-7BE2-E0D2DE75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6FA78-59E7-FC8D-8746-FCF56BBEC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B2C4F-AF32-850E-4DC2-EEC8A3604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33AB5-AF09-7F63-6DBA-5A1DC606F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534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D111F-5A8B-812F-E966-B1DB3A8C1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66859-0EEA-F5D7-B75F-ABE4D0A45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E0073-1AFA-9A80-3A73-DAD10E98B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2D011-B35D-9805-A927-BC6ADEBFE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105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32309-4CC0-7D06-5B79-3E57F76E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3C393-7723-D7F9-1A31-4AA2B5A4F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3DC9F-440D-2780-33F1-46C5A9B6A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https://zhuanlan.zhihu.com/p/664937747</a:t>
            </a: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DCE5B-6CF2-472F-5092-84392760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534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A7543-5711-310B-88DC-905918F7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82470-D906-A50C-9E0E-621BFDEDB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9BC73-691B-9670-FEDC-9A77EE427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https://blog.csdn.net/weixin_40774379/article/details/139133605</a:t>
            </a:r>
            <a:endParaRPr lang="en-US" dirty="0"/>
          </a:p>
          <a:p>
            <a:r>
              <a:rPr lang="id-ID" dirty="0"/>
              <a:t>https://zhuanlan.zhihu.com/p/692971105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50580-1ABF-4B84-D74B-F4030CAA89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884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8276-61FB-6FDB-E0D3-4D8B9154E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6F5DC-D0DE-CA42-9D15-3D23391DB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B2216-6562-4CC8-E92F-071590B72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7A14C-7ADB-448C-D43E-E23CA8BBC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86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656A0-671E-BC64-3C72-45053A7CD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63C4A-A848-A645-D753-A475054DB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31FE2-C3A9-FDEE-5DEE-794B06022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38C3A-07C8-BBB4-5AB4-FDD61E8E97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4169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D1F4-0A31-68BB-81BF-6888B1FD3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4276D-B1D3-6466-2A12-C4045A2A6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B7310-ED4A-4D02-90C9-762EBD7C9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1D9D7-29D8-22BF-5728-0C620A35B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346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1436-6412-B0DC-CC76-271AFE205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DBC4D6-0ADF-230B-688D-18330F023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73BCD0-EE2A-8262-D986-BEA1E796A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7B2FA9-0FE5-8A3F-9E34-48F900CA14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035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84354" y="6704023"/>
            <a:ext cx="2892783" cy="384175"/>
          </a:xfrm>
          <a:prstGeom prst="rect">
            <a:avLst/>
          </a:prstGeom>
        </p:spPr>
        <p:txBody>
          <a:bodyPr/>
          <a:lstStyle/>
          <a:p>
            <a:fld id="{3BED4874-415F-4462-8CBD-90FA9588F106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259789" y="6704023"/>
            <a:ext cx="4339173" cy="3841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081627" y="6704023"/>
            <a:ext cx="2892783" cy="384175"/>
          </a:xfrm>
          <a:prstGeom prst="rect">
            <a:avLst/>
          </a:prstGeom>
        </p:spPr>
        <p:txBody>
          <a:bodyPr/>
          <a:lstStyle/>
          <a:p>
            <a:fld id="{8C92ADDF-ABC6-4EEC-846D-A1AE2D410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15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070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4039" y="385072"/>
            <a:ext cx="11090672" cy="139797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14E7EB6-CBD1-49E6-A6EC-446C7CE0146C}" type="datetime1">
              <a:rPr lang="zh-CN" altLang="en-US"/>
              <a:pPr/>
              <a:t>2025/4/14</a:t>
            </a:fld>
            <a:endParaRPr lang="zh-CN" altLang="en-US" sz="1898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AB93E7-1588-4D19-9BF2-FAF36B82A6F0}" type="slidenum">
              <a:rPr lang="zh-CN" altLang="en-US"/>
              <a:pPr/>
              <a:t>‹#›</a:t>
            </a:fld>
            <a:endParaRPr lang="zh-CN" altLang="en-US" sz="1898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32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alphaModFix amt="66000"/>
            <a:lum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2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5" r:id="rId2"/>
    <p:sldLayoutId id="2147483686" r:id="rId3"/>
  </p:sldLayoutIdLst>
  <p:txStyles>
    <p:titleStyle>
      <a:lvl1pPr algn="l" defTabSz="91447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20" indent="-228620" algn="l" defTabSz="91447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58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94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33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71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09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48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86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24" indent="-228620" algn="l" defTabSz="9144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9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76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14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53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91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29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67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06" algn="l" defTabSz="9144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24984398019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259"/>
          <p:cNvSpPr>
            <a:spLocks noChangeArrowheads="1"/>
          </p:cNvSpPr>
          <p:nvPr/>
        </p:nvSpPr>
        <p:spPr bwMode="auto">
          <a:xfrm>
            <a:off x="1532831" y="3852167"/>
            <a:ext cx="979308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6000" b="1" cap="all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</a:t>
            </a:r>
            <a:r>
              <a:rPr lang="zh-CN" altLang="en-US" sz="6000" b="1" cap="all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大模型在质量管理的应用</a:t>
            </a:r>
          </a:p>
        </p:txBody>
      </p:sp>
      <p:sp>
        <p:nvSpPr>
          <p:cNvPr id="12" name="矩形 259"/>
          <p:cNvSpPr>
            <a:spLocks noChangeArrowheads="1"/>
          </p:cNvSpPr>
          <p:nvPr/>
        </p:nvSpPr>
        <p:spPr bwMode="auto">
          <a:xfrm>
            <a:off x="3717782" y="5132035"/>
            <a:ext cx="53530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2000" b="1" cap="all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endParaRPr lang="zh-CN" altLang="en-US" sz="2000" cap="all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258884" y="1552483"/>
            <a:ext cx="1800200" cy="1800200"/>
            <a:chOff x="3430685" y="726775"/>
            <a:chExt cx="1800200" cy="1800200"/>
          </a:xfrm>
        </p:grpSpPr>
        <p:sp>
          <p:nvSpPr>
            <p:cNvPr id="24" name="椭圆 23"/>
            <p:cNvSpPr/>
            <p:nvPr/>
          </p:nvSpPr>
          <p:spPr>
            <a:xfrm>
              <a:off x="3430685" y="726775"/>
              <a:ext cx="1800200" cy="1800200"/>
            </a:xfrm>
            <a:prstGeom prst="ellips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3520785" y="816875"/>
              <a:ext cx="1620000" cy="162000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TextBox 28"/>
            <p:cNvSpPr txBox="1"/>
            <p:nvPr/>
          </p:nvSpPr>
          <p:spPr>
            <a:xfrm>
              <a:off x="3574701" y="1242154"/>
              <a:ext cx="15121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Mincho-SU" pitchFamily="1" charset="-128"/>
                <a:ea typeface="DFMincho-SU" pitchFamily="1" charset="-128"/>
              </a:endParaRPr>
            </a:p>
          </p:txBody>
        </p:sp>
      </p:grpSp>
      <p:sp>
        <p:nvSpPr>
          <p:cNvPr id="27" name="椭圆 26"/>
          <p:cNvSpPr/>
          <p:nvPr/>
        </p:nvSpPr>
        <p:spPr>
          <a:xfrm>
            <a:off x="7597857" y="2814265"/>
            <a:ext cx="274777" cy="274777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3153011" y="3167630"/>
            <a:ext cx="476273" cy="476273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9009616" y="1744117"/>
            <a:ext cx="232095" cy="232095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577570" y="3008830"/>
            <a:ext cx="354431" cy="35443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1" name="同心圆 3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150363" y="3155497"/>
            <a:ext cx="217043" cy="21704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4" name="同心圆 3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067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5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15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36" dur="1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4" presetClass="path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8.33333E-7 -2.84656E-6 L -0.8033 -0.22044 " pathEditMode="relative" rAng="0" ptsTypes="AA">
                                      <p:cBhvr>
                                        <p:cTn id="45" dur="10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74" y="-1102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54" dur="11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4" presetClass="path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-2.84656E-6 L -0.8033 -0.22044 " pathEditMode="relative" rAng="0" ptsTypes="AA">
                                      <p:cBhvr>
                                        <p:cTn id="63" dur="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74" y="-11022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4" presetClass="path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3.05556E-6 -2.63662E-6 L -0.79843 -0.88885 " pathEditMode="relative" rAng="0" ptsTypes="AA">
                                      <p:cBhvr>
                                        <p:cTn id="72" dur="10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13" y="-44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2" grpId="0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DD903-0333-38F8-9C07-C6257E3A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D4FFA6B-7CF3-2BCF-B53C-BCD9DFD19D69}"/>
              </a:ext>
            </a:extLst>
          </p:cNvPr>
          <p:cNvGrpSpPr/>
          <p:nvPr/>
        </p:nvGrpSpPr>
        <p:grpSpPr>
          <a:xfrm>
            <a:off x="2956826" y="1646781"/>
            <a:ext cx="2160210" cy="3794592"/>
            <a:chOff x="2956826" y="1646781"/>
            <a:chExt cx="2160210" cy="3794592"/>
          </a:xfrm>
        </p:grpSpPr>
        <p:sp>
          <p:nvSpPr>
            <p:cNvPr id="18" name="MH_Others_1">
              <a:extLst>
                <a:ext uri="{FF2B5EF4-FFF2-40B4-BE49-F238E27FC236}">
                  <a16:creationId xmlns:a16="http://schemas.microsoft.com/office/drawing/2014/main" id="{0ADB4C80-D43F-F8D8-20BD-D3ABAB40B650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639708" y="1646781"/>
              <a:ext cx="1477328" cy="3794592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spAutoFit/>
            </a:bodyPr>
            <a:lstStyle/>
            <a:p>
              <a:pPr algn="ctr"/>
              <a:r>
                <a:rPr lang="zh-CN" altLang="en-US" sz="96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19" name="MH_Others_2">
              <a:extLst>
                <a:ext uri="{FF2B5EF4-FFF2-40B4-BE49-F238E27FC236}">
                  <a16:creationId xmlns:a16="http://schemas.microsoft.com/office/drawing/2014/main" id="{621AA8DA-0BCA-9D72-4FDF-B4AE1D88B470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 rot="5400000">
              <a:off x="1645732" y="3205523"/>
              <a:ext cx="3299296" cy="67710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sz="4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椭圆 14">
            <a:extLst>
              <a:ext uri="{FF2B5EF4-FFF2-40B4-BE49-F238E27FC236}">
                <a16:creationId xmlns:a16="http://schemas.microsoft.com/office/drawing/2014/main" id="{7E6512CB-D47C-C85F-E7E3-A5881D10D26D}"/>
              </a:ext>
            </a:extLst>
          </p:cNvPr>
          <p:cNvSpPr/>
          <p:nvPr/>
        </p:nvSpPr>
        <p:spPr>
          <a:xfrm>
            <a:off x="5479728" y="1659258"/>
            <a:ext cx="543685" cy="543827"/>
          </a:xfrm>
          <a:prstGeom prst="ellipse">
            <a:avLst/>
          </a:prstGeom>
          <a:solidFill>
            <a:schemeClr val="bg1"/>
          </a:solidFill>
          <a:ln w="1270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D98FDB1-5696-5AC4-D89C-6B25D47A6261}"/>
              </a:ext>
            </a:extLst>
          </p:cNvPr>
          <p:cNvSpPr/>
          <p:nvPr/>
        </p:nvSpPr>
        <p:spPr>
          <a:xfrm>
            <a:off x="5477299" y="2488196"/>
            <a:ext cx="543685" cy="543827"/>
          </a:xfrm>
          <a:prstGeom prst="ellipse">
            <a:avLst/>
          </a:prstGeom>
          <a:solidFill>
            <a:schemeClr val="bg1"/>
          </a:solidFill>
          <a:ln w="1270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AA45196-3093-D41F-3D2B-0FCB80E492E7}"/>
              </a:ext>
            </a:extLst>
          </p:cNvPr>
          <p:cNvSpPr/>
          <p:nvPr/>
        </p:nvSpPr>
        <p:spPr>
          <a:xfrm>
            <a:off x="5489498" y="4151051"/>
            <a:ext cx="543685" cy="543827"/>
          </a:xfrm>
          <a:prstGeom prst="ellipse">
            <a:avLst/>
          </a:prstGeom>
          <a:solidFill>
            <a:schemeClr val="bg1"/>
          </a:solidFill>
          <a:ln w="1270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1A8F116-C292-B11C-4AA9-7A7B0ABA3FE7}"/>
              </a:ext>
            </a:extLst>
          </p:cNvPr>
          <p:cNvSpPr/>
          <p:nvPr/>
        </p:nvSpPr>
        <p:spPr>
          <a:xfrm>
            <a:off x="5489498" y="3322113"/>
            <a:ext cx="543685" cy="543827"/>
          </a:xfrm>
          <a:prstGeom prst="ellipse">
            <a:avLst/>
          </a:prstGeom>
          <a:solidFill>
            <a:schemeClr val="bg1"/>
          </a:solidFill>
          <a:ln w="1270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254A6017-9D79-ED08-FDB8-E78F237A69B6}"/>
              </a:ext>
            </a:extLst>
          </p:cNvPr>
          <p:cNvSpPr txBox="1"/>
          <p:nvPr/>
        </p:nvSpPr>
        <p:spPr>
          <a:xfrm>
            <a:off x="6327640" y="1713256"/>
            <a:ext cx="3574284" cy="438563"/>
          </a:xfrm>
          <a:prstGeom prst="rect">
            <a:avLst/>
          </a:prstGeom>
          <a:noFill/>
        </p:spPr>
        <p:txBody>
          <a:bodyPr wrap="square" lIns="68562" tIns="34281" rIns="68562" bIns="34281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开发框架</a:t>
            </a: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08D9BBAE-E55F-A382-6723-FEECAF2100F7}"/>
              </a:ext>
            </a:extLst>
          </p:cNvPr>
          <p:cNvSpPr txBox="1"/>
          <p:nvPr/>
        </p:nvSpPr>
        <p:spPr>
          <a:xfrm>
            <a:off x="6316231" y="2542194"/>
            <a:ext cx="2198406" cy="438563"/>
          </a:xfrm>
          <a:prstGeom prst="rect">
            <a:avLst/>
          </a:prstGeom>
          <a:noFill/>
        </p:spPr>
        <p:txBody>
          <a:bodyPr wrap="square" lIns="68562" tIns="34281" rIns="68562" bIns="34281" rtlCol="0">
            <a:spAutoFit/>
          </a:bodyPr>
          <a:lstStyle/>
          <a:p>
            <a:r>
              <a:rPr lang="en-US" altLang="zh-CN" sz="2400" b="1" dirty="0">
                <a:solidFill>
                  <a:srgbClr val="5F5E5C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endParaRPr lang="zh-CN" altLang="en-US" sz="2400" b="1" dirty="0">
              <a:solidFill>
                <a:srgbClr val="5F5E5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Box 8">
            <a:extLst>
              <a:ext uri="{FF2B5EF4-FFF2-40B4-BE49-F238E27FC236}">
                <a16:creationId xmlns:a16="http://schemas.microsoft.com/office/drawing/2014/main" id="{53DD1BE7-9C8F-BECE-C343-B2FF317ACB2D}"/>
              </a:ext>
            </a:extLst>
          </p:cNvPr>
          <p:cNvSpPr txBox="1"/>
          <p:nvPr/>
        </p:nvSpPr>
        <p:spPr>
          <a:xfrm>
            <a:off x="6339839" y="3376111"/>
            <a:ext cx="2175586" cy="438563"/>
          </a:xfrm>
          <a:prstGeom prst="rect">
            <a:avLst/>
          </a:prstGeom>
          <a:noFill/>
        </p:spPr>
        <p:txBody>
          <a:bodyPr wrap="square" lIns="68562" tIns="34281" rIns="68562" bIns="34281" rtlCol="0">
            <a:spAutoFit/>
          </a:bodyPr>
          <a:lstStyle/>
          <a:p>
            <a:r>
              <a:rPr lang="en-US" altLang="zh-CN" sz="2400" b="1" dirty="0">
                <a:solidFill>
                  <a:srgbClr val="5F5E5C"/>
                </a:solidFill>
                <a:latin typeface="微软雅黑" pitchFamily="34" charset="-122"/>
                <a:ea typeface="微软雅黑" pitchFamily="34" charset="-122"/>
              </a:rPr>
              <a:t>xx</a:t>
            </a:r>
            <a:endParaRPr lang="zh-CN" altLang="en-US" sz="2400" b="1" dirty="0">
              <a:solidFill>
                <a:srgbClr val="5F5E5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4C595C9F-01A8-85D9-BE67-8EBD148629FD}"/>
              </a:ext>
            </a:extLst>
          </p:cNvPr>
          <p:cNvSpPr txBox="1"/>
          <p:nvPr/>
        </p:nvSpPr>
        <p:spPr>
          <a:xfrm>
            <a:off x="6369962" y="4203682"/>
            <a:ext cx="1992817" cy="438563"/>
          </a:xfrm>
          <a:prstGeom prst="rect">
            <a:avLst/>
          </a:prstGeom>
          <a:noFill/>
        </p:spPr>
        <p:txBody>
          <a:bodyPr wrap="square" lIns="68562" tIns="34281" rIns="68562" bIns="34281" rtlCol="0">
            <a:spAutoFit/>
          </a:bodyPr>
          <a:lstStyle/>
          <a:p>
            <a:r>
              <a:rPr lang="en-US" altLang="zh-CN" sz="2400" b="1" dirty="0">
                <a:solidFill>
                  <a:srgbClr val="5F5E5C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endParaRPr lang="zh-CN" altLang="en-US" sz="2400" b="1" dirty="0">
              <a:solidFill>
                <a:srgbClr val="5F5E5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5DC0468-D765-3FD8-6F23-9A2AAF0256AA}"/>
              </a:ext>
            </a:extLst>
          </p:cNvPr>
          <p:cNvSpPr/>
          <p:nvPr/>
        </p:nvSpPr>
        <p:spPr>
          <a:xfrm>
            <a:off x="5489498" y="5023486"/>
            <a:ext cx="543685" cy="543827"/>
          </a:xfrm>
          <a:prstGeom prst="ellipse">
            <a:avLst/>
          </a:prstGeom>
          <a:solidFill>
            <a:schemeClr val="bg1"/>
          </a:solidFill>
          <a:ln w="1270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8C1B3A50-1741-01C8-C2C9-DF9BB510773F}"/>
              </a:ext>
            </a:extLst>
          </p:cNvPr>
          <p:cNvSpPr txBox="1"/>
          <p:nvPr/>
        </p:nvSpPr>
        <p:spPr>
          <a:xfrm>
            <a:off x="6357763" y="5032620"/>
            <a:ext cx="2941552" cy="438563"/>
          </a:xfrm>
          <a:prstGeom prst="rect">
            <a:avLst/>
          </a:prstGeom>
          <a:noFill/>
        </p:spPr>
        <p:txBody>
          <a:bodyPr wrap="square" lIns="68562" tIns="34281" rIns="68562" bIns="34281" rtlCol="0">
            <a:spAutoFit/>
          </a:bodyPr>
          <a:lstStyle/>
          <a:p>
            <a:r>
              <a:rPr lang="en-US" altLang="zh-CN" sz="2400" b="1" dirty="0">
                <a:solidFill>
                  <a:srgbClr val="5F5E5C"/>
                </a:solidFill>
                <a:latin typeface="微软雅黑" pitchFamily="34" charset="-122"/>
                <a:ea typeface="微软雅黑" pitchFamily="34" charset="-122"/>
              </a:rPr>
              <a:t>xx</a:t>
            </a:r>
            <a:endParaRPr lang="zh-CN" altLang="en-US" sz="2400" b="1" dirty="0">
              <a:solidFill>
                <a:srgbClr val="5F5E5C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3105266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878F1-6B4E-9B83-D78D-572F349F3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E78272F-8B86-667C-E815-EAB8943A170E}"/>
              </a:ext>
            </a:extLst>
          </p:cNvPr>
          <p:cNvSpPr/>
          <p:nvPr/>
        </p:nvSpPr>
        <p:spPr>
          <a:xfrm>
            <a:off x="0" y="2680221"/>
            <a:ext cx="12858749" cy="19442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7B13E45-DA27-44BA-55AD-C99DE6522BB7}"/>
              </a:ext>
            </a:extLst>
          </p:cNvPr>
          <p:cNvGrpSpPr/>
          <p:nvPr/>
        </p:nvGrpSpPr>
        <p:grpSpPr>
          <a:xfrm>
            <a:off x="320164" y="2877782"/>
            <a:ext cx="5605155" cy="1296144"/>
            <a:chOff x="323528" y="1509631"/>
            <a:chExt cx="5605155" cy="1296144"/>
          </a:xfrm>
        </p:grpSpPr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C928A9EE-D41E-C4A4-07B4-FE6A8E1B866E}"/>
                </a:ext>
              </a:extLst>
            </p:cNvPr>
            <p:cNvSpPr txBox="1"/>
            <p:nvPr/>
          </p:nvSpPr>
          <p:spPr>
            <a:xfrm>
              <a:off x="335887" y="1509631"/>
              <a:ext cx="770046" cy="684785"/>
            </a:xfrm>
            <a:prstGeom prst="rect">
              <a:avLst/>
            </a:prstGeom>
            <a:noFill/>
          </p:spPr>
          <p:txBody>
            <a:bodyPr wrap="none" lIns="68562" tIns="34281" rIns="68562" bIns="34281" rtlCol="0">
              <a:spAutoFit/>
            </a:bodyPr>
            <a:lstStyle/>
            <a:p>
              <a:pPr algn="r"/>
              <a:r>
                <a:rPr lang="en-US" altLang="zh-CN" sz="4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01</a:t>
              </a:r>
              <a:endPara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文本占位符 3">
              <a:extLst>
                <a:ext uri="{FF2B5EF4-FFF2-40B4-BE49-F238E27FC236}">
                  <a16:creationId xmlns:a16="http://schemas.microsoft.com/office/drawing/2014/main" id="{5C1A7937-3EFE-A7F3-BDBB-A8CAA13058A6}"/>
                </a:ext>
              </a:extLst>
            </p:cNvPr>
            <p:cNvSpPr txBox="1">
              <a:spLocks/>
            </p:cNvSpPr>
            <p:nvPr/>
          </p:nvSpPr>
          <p:spPr>
            <a:xfrm>
              <a:off x="323528" y="2211710"/>
              <a:ext cx="5605155" cy="594065"/>
            </a:xfrm>
            <a:prstGeom prst="rect">
              <a:avLst/>
            </a:prstGeom>
          </p:spPr>
          <p:txBody>
            <a:bodyPr vert="horz" lIns="68562" tIns="34281" rIns="68562" bIns="34281" rtlCol="0" anchor="ctr">
              <a:noAutofit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800" b="1" kern="1200">
                  <a:solidFill>
                    <a:srgbClr val="56762C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600" dirty="0">
                  <a:solidFill>
                    <a:schemeClr val="bg1"/>
                  </a:solidFill>
                  <a:ea typeface="微软雅黑" pitchFamily="34" charset="-122"/>
                </a:rPr>
                <a:t>质量设计</a:t>
              </a:r>
              <a:r>
                <a:rPr lang="en-US" altLang="zh-CN" sz="3600" dirty="0">
                  <a:solidFill>
                    <a:schemeClr val="bg1"/>
                  </a:solidFill>
                  <a:ea typeface="微软雅黑" pitchFamily="34" charset="-122"/>
                </a:rPr>
                <a:t>/</a:t>
              </a:r>
              <a:r>
                <a:rPr lang="zh-CN" altLang="en-US" sz="3600" dirty="0">
                  <a:solidFill>
                    <a:schemeClr val="bg1"/>
                  </a:solidFill>
                  <a:ea typeface="微软雅黑" pitchFamily="34" charset="-122"/>
                </a:rPr>
                <a:t>工艺设计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3DBCC61-9DE1-12B4-73A3-C6685B5FAD90}"/>
                </a:ext>
              </a:extLst>
            </p:cNvPr>
            <p:cNvSpPr/>
            <p:nvPr/>
          </p:nvSpPr>
          <p:spPr>
            <a:xfrm>
              <a:off x="331805" y="2149041"/>
              <a:ext cx="3401492" cy="16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68562" tIns="34281" rIns="68562" bIns="34281"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F7FE8B9-C84F-315D-D381-191CC9ED27EF}"/>
              </a:ext>
            </a:extLst>
          </p:cNvPr>
          <p:cNvGrpSpPr/>
          <p:nvPr/>
        </p:nvGrpSpPr>
        <p:grpSpPr>
          <a:xfrm>
            <a:off x="89868" y="5073566"/>
            <a:ext cx="1800200" cy="1800200"/>
            <a:chOff x="3430685" y="726775"/>
            <a:chExt cx="1800200" cy="1800200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066A6EB-A551-5674-DCEF-BF4DC3BF36A6}"/>
                </a:ext>
              </a:extLst>
            </p:cNvPr>
            <p:cNvSpPr/>
            <p:nvPr/>
          </p:nvSpPr>
          <p:spPr>
            <a:xfrm>
              <a:off x="3430685" y="726775"/>
              <a:ext cx="1800200" cy="1800200"/>
            </a:xfrm>
            <a:prstGeom prst="ellips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A09716C-E14A-8E4E-AB63-C115D7EEC855}"/>
                </a:ext>
              </a:extLst>
            </p:cNvPr>
            <p:cNvSpPr/>
            <p:nvPr/>
          </p:nvSpPr>
          <p:spPr>
            <a:xfrm>
              <a:off x="3520785" y="816875"/>
              <a:ext cx="1620000" cy="162000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TextBox 28">
              <a:extLst>
                <a:ext uri="{FF2B5EF4-FFF2-40B4-BE49-F238E27FC236}">
                  <a16:creationId xmlns:a16="http://schemas.microsoft.com/office/drawing/2014/main" id="{3D00C089-EF2B-934B-B3B9-154FF7756A57}"/>
                </a:ext>
              </a:extLst>
            </p:cNvPr>
            <p:cNvSpPr txBox="1"/>
            <p:nvPr/>
          </p:nvSpPr>
          <p:spPr>
            <a:xfrm>
              <a:off x="3574701" y="1242154"/>
              <a:ext cx="15121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200" kern="0" dirty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过渡页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27985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7BDD-2170-EB51-F131-E423CC828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5C29AFB-4CB8-AAE6-E319-19332A1CD784}"/>
              </a:ext>
            </a:extLst>
          </p:cNvPr>
          <p:cNvGrpSpPr/>
          <p:nvPr/>
        </p:nvGrpSpPr>
        <p:grpSpPr>
          <a:xfrm>
            <a:off x="0" y="303957"/>
            <a:ext cx="12858396" cy="466708"/>
            <a:chOff x="354" y="334458"/>
            <a:chExt cx="12858396" cy="4667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64039AF-5F15-CD3B-C1D0-B13051F0BE9D}"/>
                </a:ext>
              </a:extLst>
            </p:cNvPr>
            <p:cNvSpPr/>
            <p:nvPr/>
          </p:nvSpPr>
          <p:spPr>
            <a:xfrm>
              <a:off x="354" y="361635"/>
              <a:ext cx="1244799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17DA08A-4800-18DB-45B4-0F48A5710754}"/>
                </a:ext>
              </a:extLst>
            </p:cNvPr>
            <p:cNvSpPr/>
            <p:nvPr/>
          </p:nvSpPr>
          <p:spPr>
            <a:xfrm>
              <a:off x="1317161" y="361635"/>
              <a:ext cx="11541589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0D0F506-4DB2-3DC0-5389-31BF24BB17D3}"/>
                </a:ext>
              </a:extLst>
            </p:cNvPr>
            <p:cNvSpPr txBox="1"/>
            <p:nvPr/>
          </p:nvSpPr>
          <p:spPr>
            <a:xfrm>
              <a:off x="1677203" y="334458"/>
              <a:ext cx="5472606" cy="466708"/>
            </a:xfrm>
            <a:prstGeom prst="rect">
              <a:avLst/>
            </a:prstGeom>
            <a:noFill/>
          </p:spPr>
          <p:txBody>
            <a:bodyPr wrap="square" lIns="96434" tIns="48217" rIns="96434" bIns="48217" rtlCol="0">
              <a:spAutoFit/>
            </a:bodyPr>
            <a:lstStyle/>
            <a:p>
              <a:pPr defTabSz="964278"/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AI Agent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967DCEF-3BFF-A6CC-E0DA-1DA4E3F7ADC7}"/>
              </a:ext>
            </a:extLst>
          </p:cNvPr>
          <p:cNvSpPr txBox="1"/>
          <p:nvPr/>
        </p:nvSpPr>
        <p:spPr>
          <a:xfrm>
            <a:off x="141421" y="883142"/>
            <a:ext cx="1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设计模式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FB42AF-2898-04DF-EA55-8D2DFB54FEDC}"/>
              </a:ext>
            </a:extLst>
          </p:cNvPr>
          <p:cNvSpPr txBox="1"/>
          <p:nvPr/>
        </p:nvSpPr>
        <p:spPr>
          <a:xfrm>
            <a:off x="596727" y="1651406"/>
            <a:ext cx="1138475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REACT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设计框架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7FB5D4-B7BB-6A27-38FB-663B193B2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99" y="2268537"/>
            <a:ext cx="7467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2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B649-2DC7-2944-F4BB-F3D35E961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4E1FA2E4-6A09-12DC-031F-901843874BC5}"/>
              </a:ext>
            </a:extLst>
          </p:cNvPr>
          <p:cNvGrpSpPr/>
          <p:nvPr/>
        </p:nvGrpSpPr>
        <p:grpSpPr>
          <a:xfrm>
            <a:off x="0" y="303957"/>
            <a:ext cx="12858396" cy="466708"/>
            <a:chOff x="354" y="334458"/>
            <a:chExt cx="12858396" cy="4667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1C31557-CFBF-8012-9D16-442EB8488792}"/>
                </a:ext>
              </a:extLst>
            </p:cNvPr>
            <p:cNvSpPr/>
            <p:nvPr/>
          </p:nvSpPr>
          <p:spPr>
            <a:xfrm>
              <a:off x="354" y="361635"/>
              <a:ext cx="1244799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8B2144E-62BE-9E8A-7E99-B32B56442026}"/>
                </a:ext>
              </a:extLst>
            </p:cNvPr>
            <p:cNvSpPr/>
            <p:nvPr/>
          </p:nvSpPr>
          <p:spPr>
            <a:xfrm>
              <a:off x="1317161" y="361635"/>
              <a:ext cx="11541589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AE16A8C-161D-5E62-C6D7-B92DA9A35664}"/>
                </a:ext>
              </a:extLst>
            </p:cNvPr>
            <p:cNvSpPr txBox="1"/>
            <p:nvPr/>
          </p:nvSpPr>
          <p:spPr>
            <a:xfrm>
              <a:off x="1677203" y="334458"/>
              <a:ext cx="5472606" cy="466708"/>
            </a:xfrm>
            <a:prstGeom prst="rect">
              <a:avLst/>
            </a:prstGeom>
            <a:noFill/>
          </p:spPr>
          <p:txBody>
            <a:bodyPr wrap="square" lIns="96434" tIns="48217" rIns="96434" bIns="48217" rtlCol="0">
              <a:spAutoFit/>
            </a:bodyPr>
            <a:lstStyle/>
            <a:p>
              <a:pPr defTabSz="964278"/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AI Agent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2AF5459-EB96-5B66-A42B-8E3A029D6831}"/>
              </a:ext>
            </a:extLst>
          </p:cNvPr>
          <p:cNvSpPr txBox="1"/>
          <p:nvPr/>
        </p:nvSpPr>
        <p:spPr>
          <a:xfrm>
            <a:off x="141421" y="883142"/>
            <a:ext cx="1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AI Agent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开发框架分析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172B86-FD17-2AC8-93AB-420AB8379C5E}"/>
              </a:ext>
            </a:extLst>
          </p:cNvPr>
          <p:cNvSpPr txBox="1"/>
          <p:nvPr/>
        </p:nvSpPr>
        <p:spPr>
          <a:xfrm>
            <a:off x="596727" y="1651406"/>
            <a:ext cx="11384753" cy="2552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Coze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：低代码模式，适用于通用办公场景；不适合高度定制化开发场景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：可以用于简单的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开发；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设计和说明较为混乱；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Langgraph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：学习曲线陡峭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Autogen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：综合最好用，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设计清晰，单智能体、多智能体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crewai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620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5D28-0645-CB7A-57BD-7D6108C8B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F11BCCA-43A4-E5A4-6FA9-A2A728ED8F21}"/>
              </a:ext>
            </a:extLst>
          </p:cNvPr>
          <p:cNvGrpSpPr/>
          <p:nvPr/>
        </p:nvGrpSpPr>
        <p:grpSpPr>
          <a:xfrm>
            <a:off x="0" y="303957"/>
            <a:ext cx="12858396" cy="466708"/>
            <a:chOff x="354" y="334458"/>
            <a:chExt cx="12858396" cy="4667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3C01A4E-1DDB-30BA-F1A7-F7AA92531108}"/>
                </a:ext>
              </a:extLst>
            </p:cNvPr>
            <p:cNvSpPr/>
            <p:nvPr/>
          </p:nvSpPr>
          <p:spPr>
            <a:xfrm>
              <a:off x="354" y="361635"/>
              <a:ext cx="1244799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7A5F5BE-0EE2-92C5-C1AD-81483BEBD801}"/>
                </a:ext>
              </a:extLst>
            </p:cNvPr>
            <p:cNvSpPr/>
            <p:nvPr/>
          </p:nvSpPr>
          <p:spPr>
            <a:xfrm>
              <a:off x="1317161" y="361635"/>
              <a:ext cx="11541589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CBCB061-A37E-451D-F2BE-D1CC2563053C}"/>
                </a:ext>
              </a:extLst>
            </p:cNvPr>
            <p:cNvSpPr txBox="1"/>
            <p:nvPr/>
          </p:nvSpPr>
          <p:spPr>
            <a:xfrm>
              <a:off x="1677203" y="334458"/>
              <a:ext cx="5472606" cy="466708"/>
            </a:xfrm>
            <a:prstGeom prst="rect">
              <a:avLst/>
            </a:prstGeom>
            <a:noFill/>
          </p:spPr>
          <p:txBody>
            <a:bodyPr wrap="square" lIns="96434" tIns="48217" rIns="96434" bIns="48217" rtlCol="0">
              <a:spAutoFit/>
            </a:bodyPr>
            <a:lstStyle/>
            <a:p>
              <a:pPr defTabSz="964278"/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AI Agent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C9036DE-FD76-383F-B52E-035D79A30FFE}"/>
              </a:ext>
            </a:extLst>
          </p:cNvPr>
          <p:cNvSpPr txBox="1"/>
          <p:nvPr/>
        </p:nvSpPr>
        <p:spPr>
          <a:xfrm>
            <a:off x="141421" y="883142"/>
            <a:ext cx="1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AI Agent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开发框架分析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F7C726-1F38-EE53-DE6E-42232864C916}"/>
              </a:ext>
            </a:extLst>
          </p:cNvPr>
          <p:cNvSpPr txBox="1"/>
          <p:nvPr/>
        </p:nvSpPr>
        <p:spPr>
          <a:xfrm>
            <a:off x="622399" y="1816125"/>
            <a:ext cx="4968552" cy="4255396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Coze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借助扣子提供的可视化设计与编排工具，你可以通过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零代码或低代码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的方式，快速搭建出基于大模型的各类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项目，满足个性化需求、实现商业价值。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● 智能体：智能体是基于对话的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项目，它通过对话方式接收用户的输入，由大模型自动调用插件或工作流等方式执行用户指定的业务流程，并生成最终的回复。智能客服、虚拟伴侣、个人助理、英语外教都是智能体的典型应用场景。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● 应用：应用是指利用大模型技术开发的应用程序。扣子中搭建的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应用具备完整业务逻辑和可视化用户界面，是一个独立的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项目。通过扣子开发的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应用有明确的输入和输出，可以根据既定的业务逻辑和流程完成一系列简单或复杂的任务，例如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搜索、翻译工具、饮食记录等。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50BA312-8B14-86C7-A060-1EE74548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319" y="1816125"/>
            <a:ext cx="6429374" cy="281754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537B75-5D77-E1C0-258A-2F24EAB26B06}"/>
              </a:ext>
            </a:extLst>
          </p:cNvPr>
          <p:cNvSpPr/>
          <p:nvPr/>
        </p:nvSpPr>
        <p:spPr>
          <a:xfrm>
            <a:off x="5858318" y="5077188"/>
            <a:ext cx="6429373" cy="994333"/>
          </a:xfrm>
          <a:prstGeom prst="rect">
            <a:avLst/>
          </a:prstGeom>
          <a:solidFill>
            <a:srgbClr val="D9D9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1"/>
                </a:solidFill>
              </a:rPr>
              <a:t>&gt;&gt; </a:t>
            </a:r>
            <a:r>
              <a:rPr lang="zh-CN" altLang="en-US" sz="1600" dirty="0">
                <a:solidFill>
                  <a:schemeClr val="tx1"/>
                </a:solidFill>
              </a:rPr>
              <a:t>低代码模式，适用于通用办公场景；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不适合高度定制化开发场景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6BED29-8E17-0DE5-2726-0258866F9BF1}"/>
              </a:ext>
            </a:extLst>
          </p:cNvPr>
          <p:cNvSpPr txBox="1"/>
          <p:nvPr/>
        </p:nvSpPr>
        <p:spPr>
          <a:xfrm>
            <a:off x="6671070" y="2078658"/>
            <a:ext cx="309634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创建工作流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F773703-4619-F388-290B-49C5E4FF5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99" y="6349508"/>
            <a:ext cx="1371600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9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6E744-9F26-3558-F5EA-1794BBE8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7989BBA-1F0F-CA2E-C13C-C98A8DC674C0}"/>
              </a:ext>
            </a:extLst>
          </p:cNvPr>
          <p:cNvGrpSpPr/>
          <p:nvPr/>
        </p:nvGrpSpPr>
        <p:grpSpPr>
          <a:xfrm>
            <a:off x="0" y="303957"/>
            <a:ext cx="12858396" cy="466708"/>
            <a:chOff x="354" y="334458"/>
            <a:chExt cx="12858396" cy="4667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3B07FCE-7F20-249A-AFC9-A96803CFBEA0}"/>
                </a:ext>
              </a:extLst>
            </p:cNvPr>
            <p:cNvSpPr/>
            <p:nvPr/>
          </p:nvSpPr>
          <p:spPr>
            <a:xfrm>
              <a:off x="354" y="361635"/>
              <a:ext cx="1244799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85374EC-C1A2-E7E9-BAB6-C632E5734A6A}"/>
                </a:ext>
              </a:extLst>
            </p:cNvPr>
            <p:cNvSpPr/>
            <p:nvPr/>
          </p:nvSpPr>
          <p:spPr>
            <a:xfrm>
              <a:off x="1317161" y="361635"/>
              <a:ext cx="11541589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036E37B-44C0-F5D9-A17D-BEB2BAACEF1D}"/>
                </a:ext>
              </a:extLst>
            </p:cNvPr>
            <p:cNvSpPr txBox="1"/>
            <p:nvPr/>
          </p:nvSpPr>
          <p:spPr>
            <a:xfrm>
              <a:off x="1677203" y="334458"/>
              <a:ext cx="5472606" cy="466708"/>
            </a:xfrm>
            <a:prstGeom prst="rect">
              <a:avLst/>
            </a:prstGeom>
            <a:noFill/>
          </p:spPr>
          <p:txBody>
            <a:bodyPr wrap="square" lIns="96434" tIns="48217" rIns="96434" bIns="48217" rtlCol="0">
              <a:spAutoFit/>
            </a:bodyPr>
            <a:lstStyle/>
            <a:p>
              <a:pPr defTabSz="964278"/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AI Agent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6575D823-B3C0-009A-077F-58BC8B8B427C}"/>
              </a:ext>
            </a:extLst>
          </p:cNvPr>
          <p:cNvSpPr txBox="1"/>
          <p:nvPr/>
        </p:nvSpPr>
        <p:spPr>
          <a:xfrm>
            <a:off x="141421" y="883142"/>
            <a:ext cx="1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AI Agent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开发框架分析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BB9FC2-5E1A-218A-0510-4C83BA176C10}"/>
              </a:ext>
            </a:extLst>
          </p:cNvPr>
          <p:cNvSpPr txBox="1"/>
          <p:nvPr/>
        </p:nvSpPr>
        <p:spPr>
          <a:xfrm>
            <a:off x="622399" y="1472252"/>
            <a:ext cx="4968552" cy="1993238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应用开发框架，专为构建基于大语言模型（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智能应用。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可集成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、数据库和搜索引擎，适用于智能对话、文档处理和自动化工作流等场景，帮助开发者高效创建多步骤、上下文感知的智能代理系统，提升开发效率并拓宽应用场景。    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7B1493-B78F-577F-6FB6-B7844547B198}"/>
              </a:ext>
            </a:extLst>
          </p:cNvPr>
          <p:cNvSpPr/>
          <p:nvPr/>
        </p:nvSpPr>
        <p:spPr>
          <a:xfrm>
            <a:off x="6342150" y="5560541"/>
            <a:ext cx="5639330" cy="1332870"/>
          </a:xfrm>
          <a:prstGeom prst="rect">
            <a:avLst/>
          </a:prstGeom>
          <a:solidFill>
            <a:srgbClr val="D9D9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&gt;&gt; </a:t>
            </a:r>
            <a:r>
              <a:rPr lang="zh-CN" altLang="en-US" sz="1600" dirty="0">
                <a:solidFill>
                  <a:schemeClr val="tx1"/>
                </a:solidFill>
              </a:rPr>
              <a:t>可以用于简单的</a:t>
            </a:r>
            <a:r>
              <a:rPr lang="en-US" altLang="zh-CN" sz="1600" dirty="0">
                <a:solidFill>
                  <a:schemeClr val="tx1"/>
                </a:solidFill>
              </a:rPr>
              <a:t>Agent</a:t>
            </a:r>
            <a:r>
              <a:rPr lang="zh-CN" altLang="en-US" sz="1600" dirty="0">
                <a:solidFill>
                  <a:schemeClr val="tx1"/>
                </a:solidFill>
              </a:rPr>
              <a:t>开发；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API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设计和说明较为混乱</a:t>
            </a:r>
            <a:r>
              <a:rPr lang="zh-CN" altLang="en-US" sz="1600" dirty="0">
                <a:solidFill>
                  <a:schemeClr val="tx1"/>
                </a:solidFill>
              </a:rPr>
              <a:t>；</a:t>
            </a:r>
          </a:p>
          <a:p>
            <a:endParaRPr lang="zh-CN" altLang="en-US" sz="1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9360EF-3BAF-77AB-E713-C3809A034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99" y="3615591"/>
            <a:ext cx="4968552" cy="327782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############################################################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接入大模型客户端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############################################################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api_key ==================================================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api_key =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"sk-f66788fe1fce45099693f26b56ea89db"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创建大模型对象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 ==============================================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model = ChatOpenAI(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model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'deepseek-chat'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api_key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=api_key,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base_url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'https://api.deepseek.com'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temperature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endParaRPr kumimoji="0" lang="en-US" altLang="zh-CN" sz="900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############################################################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定义工具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############################################################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定义工具函数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 ===============================================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/>
                <a:ea typeface="JetBrains Mono"/>
              </a:rPr>
              <a:t>@tool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def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Arial Unicode MS"/>
                <a:ea typeface="JetBrains Mono"/>
              </a:rPr>
              <a:t>plot_spc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(file_name: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str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/>
                <a:ea typeface="JetBrains Mono"/>
              </a:rPr>
              <a:t>@tool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def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Arial Unicode MS"/>
                <a:ea typeface="JetBrains Mono"/>
              </a:rPr>
              <a:t>pic_analysis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(file_name: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str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tools = [plot_spc, pic_analysis]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286189C-78B1-26CE-3BFB-812DEBC9D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409" y="1458263"/>
            <a:ext cx="5626955" cy="355481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############################################################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定义提示词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############################################################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with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open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提示词模板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-Agent.txt"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f: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template =  f.read()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prompt = PromptTemplate.from_template(template)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############################################################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创建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Agent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############################################################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agent = create_react_agent(model, tools, prompt)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agent_executor = AgentExecutor(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agent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=agent,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tools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=tools)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调用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Agent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，输入数据的结构需要和提示词相匹配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 ======================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agent_executor.invoke({"input": "hi"})</a:t>
            </a:r>
            <a:endParaRPr kumimoji="0" lang="en-US" altLang="zh-CN" sz="900" b="0" i="0" u="none" strike="noStrike" cap="none" normalizeH="0" baseline="0" dirty="0">
              <a:ln>
                <a:noFill/>
              </a:ln>
              <a:solidFill>
                <a:srgbClr val="7A7E85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response_plot = agent_executor.invoke({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"input"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根据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 {A20250317.xlsx}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这个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Excel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里面的数据绘图，返回是否绘制成功的结果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})</a:t>
            </a:r>
            <a:endParaRPr kumimoji="0" lang="en-US" altLang="zh-CN" sz="900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response_pic_ana = agent_executor.invoke({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"input"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根据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 {A20250317.png}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这个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png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图像，从图中点的分布情况判断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x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轴和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y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轴变量的相关性，返回相关性分析的结果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})</a:t>
            </a:r>
            <a:endParaRPr kumimoji="0" lang="en-US" altLang="zh-CN" sz="900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987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93E4C-C163-FFAA-83BD-D30DD1D66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5E8A360-19B7-4E79-3052-FF6CD4CEAAF8}"/>
              </a:ext>
            </a:extLst>
          </p:cNvPr>
          <p:cNvGrpSpPr/>
          <p:nvPr/>
        </p:nvGrpSpPr>
        <p:grpSpPr>
          <a:xfrm>
            <a:off x="0" y="303957"/>
            <a:ext cx="12858396" cy="466708"/>
            <a:chOff x="354" y="334458"/>
            <a:chExt cx="12858396" cy="4667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591D8DF-82D1-FE65-0982-A98F98DB00D3}"/>
                </a:ext>
              </a:extLst>
            </p:cNvPr>
            <p:cNvSpPr/>
            <p:nvPr/>
          </p:nvSpPr>
          <p:spPr>
            <a:xfrm>
              <a:off x="354" y="361635"/>
              <a:ext cx="1244799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1A36193-6B7C-D739-BC18-47EA26BB6FA4}"/>
                </a:ext>
              </a:extLst>
            </p:cNvPr>
            <p:cNvSpPr/>
            <p:nvPr/>
          </p:nvSpPr>
          <p:spPr>
            <a:xfrm>
              <a:off x="1317161" y="361635"/>
              <a:ext cx="11541589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4C3CE31-FD89-ED5C-8E4D-C5610458165E}"/>
                </a:ext>
              </a:extLst>
            </p:cNvPr>
            <p:cNvSpPr txBox="1"/>
            <p:nvPr/>
          </p:nvSpPr>
          <p:spPr>
            <a:xfrm>
              <a:off x="1677203" y="334458"/>
              <a:ext cx="5472606" cy="466708"/>
            </a:xfrm>
            <a:prstGeom prst="rect">
              <a:avLst/>
            </a:prstGeom>
            <a:noFill/>
          </p:spPr>
          <p:txBody>
            <a:bodyPr wrap="square" lIns="96434" tIns="48217" rIns="96434" bIns="48217" rtlCol="0">
              <a:spAutoFit/>
            </a:bodyPr>
            <a:lstStyle/>
            <a:p>
              <a:pPr defTabSz="964278"/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AI Agent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084DB98-30A2-DBF6-8447-383F499709D0}"/>
              </a:ext>
            </a:extLst>
          </p:cNvPr>
          <p:cNvSpPr txBox="1"/>
          <p:nvPr/>
        </p:nvSpPr>
        <p:spPr>
          <a:xfrm>
            <a:off x="141421" y="883142"/>
            <a:ext cx="1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AI Agent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开发框架分析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61FEF6-881C-B6D4-4CC9-4ACC33E5013E}"/>
              </a:ext>
            </a:extLst>
          </p:cNvPr>
          <p:cNvSpPr txBox="1"/>
          <p:nvPr/>
        </p:nvSpPr>
        <p:spPr>
          <a:xfrm>
            <a:off x="622399" y="1472252"/>
            <a:ext cx="4968552" cy="2316403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LangGraph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是一个用于构建可控代理的底层编排框架。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LangGraph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库实现了代理编排：提供可定制的架构、长期记忆和人机回路，以可靠地处理复杂的任务。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通过图抽象将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与工具和其他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连接起来。它的核心是一系列代表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和工具的节点，以及决定节点调用时机的边。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070925-F0E6-9A36-0515-7EF35DC4D4F7}"/>
              </a:ext>
            </a:extLst>
          </p:cNvPr>
          <p:cNvSpPr/>
          <p:nvPr/>
        </p:nvSpPr>
        <p:spPr>
          <a:xfrm>
            <a:off x="567628" y="4624437"/>
            <a:ext cx="5023323" cy="1332870"/>
          </a:xfrm>
          <a:prstGeom prst="rect">
            <a:avLst/>
          </a:prstGeom>
          <a:solidFill>
            <a:srgbClr val="D9D9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&gt;&gt; </a:t>
            </a:r>
            <a:r>
              <a:rPr lang="zh-CN" altLang="en-US" sz="1600" dirty="0">
                <a:solidFill>
                  <a:schemeClr val="tx1"/>
                </a:solidFill>
              </a:rPr>
              <a:t>高的灵活性和可定制性；可处理复杂的工具使用和</a:t>
            </a:r>
            <a:r>
              <a:rPr lang="en-US" altLang="zh-CN" sz="1600" dirty="0">
                <a:solidFill>
                  <a:schemeClr val="tx1"/>
                </a:solidFill>
              </a:rPr>
              <a:t>Agent</a:t>
            </a:r>
            <a:r>
              <a:rPr lang="zh-CN" altLang="en-US" sz="1600" dirty="0">
                <a:solidFill>
                  <a:schemeClr val="tx1"/>
                </a:solidFill>
              </a:rPr>
              <a:t>层次结构；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学习曲线陡峭</a:t>
            </a:r>
            <a:r>
              <a:rPr lang="zh-CN" altLang="en-US" sz="1600" dirty="0">
                <a:solidFill>
                  <a:schemeClr val="tx1"/>
                </a:solidFill>
              </a:rPr>
              <a:t>，上手难度大；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928EACA-5131-B58B-1121-606083C6BE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80" r="19900"/>
          <a:stretch/>
        </p:blipFill>
        <p:spPr>
          <a:xfrm>
            <a:off x="6313573" y="1468479"/>
            <a:ext cx="5221289" cy="448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73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BA72-8E7A-7DD6-9021-C3CAE530E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2CEC062-498D-DC56-8000-C731435A836D}"/>
              </a:ext>
            </a:extLst>
          </p:cNvPr>
          <p:cNvGrpSpPr/>
          <p:nvPr/>
        </p:nvGrpSpPr>
        <p:grpSpPr>
          <a:xfrm>
            <a:off x="0" y="303957"/>
            <a:ext cx="12858396" cy="466708"/>
            <a:chOff x="354" y="334458"/>
            <a:chExt cx="12858396" cy="4667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5A4D7C1-6FC0-649B-36B8-4B6EB7ADD652}"/>
                </a:ext>
              </a:extLst>
            </p:cNvPr>
            <p:cNvSpPr/>
            <p:nvPr/>
          </p:nvSpPr>
          <p:spPr>
            <a:xfrm>
              <a:off x="354" y="361635"/>
              <a:ext cx="1244799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008B50D-E6E3-90BD-B73E-9ED319ED29F0}"/>
                </a:ext>
              </a:extLst>
            </p:cNvPr>
            <p:cNvSpPr/>
            <p:nvPr/>
          </p:nvSpPr>
          <p:spPr>
            <a:xfrm>
              <a:off x="1317161" y="361635"/>
              <a:ext cx="11541589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45DB3FE-08E0-43F5-183F-CABC0E55CDE0}"/>
                </a:ext>
              </a:extLst>
            </p:cNvPr>
            <p:cNvSpPr txBox="1"/>
            <p:nvPr/>
          </p:nvSpPr>
          <p:spPr>
            <a:xfrm>
              <a:off x="1677203" y="334458"/>
              <a:ext cx="5472606" cy="466708"/>
            </a:xfrm>
            <a:prstGeom prst="rect">
              <a:avLst/>
            </a:prstGeom>
            <a:noFill/>
          </p:spPr>
          <p:txBody>
            <a:bodyPr wrap="square" lIns="96434" tIns="48217" rIns="96434" bIns="48217" rtlCol="0">
              <a:spAutoFit/>
            </a:bodyPr>
            <a:lstStyle/>
            <a:p>
              <a:pPr defTabSz="964278"/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AI Agent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C5E5767B-A5CF-AB32-791F-F86B27CF58E5}"/>
              </a:ext>
            </a:extLst>
          </p:cNvPr>
          <p:cNvSpPr txBox="1"/>
          <p:nvPr/>
        </p:nvSpPr>
        <p:spPr>
          <a:xfrm>
            <a:off x="141421" y="883142"/>
            <a:ext cx="1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AI Agent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开发框架分析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0F9FCE-1398-C829-6B63-6398BCD7ED13}"/>
              </a:ext>
            </a:extLst>
          </p:cNvPr>
          <p:cNvSpPr txBox="1"/>
          <p:nvPr/>
        </p:nvSpPr>
        <p:spPr>
          <a:xfrm>
            <a:off x="956767" y="1888133"/>
            <a:ext cx="4968552" cy="328590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Autogen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允许用户创建和管理多个自主代理，以协同完成复杂的任务。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简化了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工作流的编排、自动化和优化过程。通过提供一系列的工具和接口，将这些复杂的操作进行了封装和自动化处理。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采用模块化的架构设计，使得开发者可以轻松地创建自定义代理，并根据需求进行灵活组合。每个模块都具有独立的功能，如代理模块负责与其他代理进行对话和交互，模型模块负责提供语言模型支持，工具模块负责调用外部工具等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FDE42B-08BB-3AAD-9ECD-C7191DA2ECC5}"/>
              </a:ext>
            </a:extLst>
          </p:cNvPr>
          <p:cNvSpPr/>
          <p:nvPr/>
        </p:nvSpPr>
        <p:spPr>
          <a:xfrm>
            <a:off x="956768" y="5272509"/>
            <a:ext cx="4968551" cy="1240061"/>
          </a:xfrm>
          <a:prstGeom prst="rect">
            <a:avLst/>
          </a:prstGeom>
          <a:solidFill>
            <a:srgbClr val="D9D9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1"/>
                </a:solidFill>
              </a:rPr>
              <a:t>&gt;&gt; API</a:t>
            </a:r>
            <a:r>
              <a:rPr lang="zh-CN" altLang="en-US" sz="1600" dirty="0">
                <a:solidFill>
                  <a:schemeClr val="tx1"/>
                </a:solidFill>
              </a:rPr>
              <a:t>设计清晰，综合使用体验较好</a:t>
            </a:r>
            <a:endParaRPr lang="zh-CN" altLang="en-US" sz="1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A7AF55-83C1-1D8B-033A-C3D82C0EE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601" y="1816125"/>
            <a:ext cx="4660239" cy="46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4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5262-1DC2-9F6C-6E52-FB0CE207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D512470-2267-2339-972A-61D8BA645973}"/>
              </a:ext>
            </a:extLst>
          </p:cNvPr>
          <p:cNvGrpSpPr/>
          <p:nvPr/>
        </p:nvGrpSpPr>
        <p:grpSpPr>
          <a:xfrm>
            <a:off x="0" y="303957"/>
            <a:ext cx="12858396" cy="466708"/>
            <a:chOff x="354" y="334458"/>
            <a:chExt cx="12858396" cy="4667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6DBC5DB-E8A1-C188-83D7-8E92A9EA0721}"/>
                </a:ext>
              </a:extLst>
            </p:cNvPr>
            <p:cNvSpPr/>
            <p:nvPr/>
          </p:nvSpPr>
          <p:spPr>
            <a:xfrm>
              <a:off x="354" y="361635"/>
              <a:ext cx="1244799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16EF56B-EE3A-9EE9-DFD4-ABCE613D16E5}"/>
                </a:ext>
              </a:extLst>
            </p:cNvPr>
            <p:cNvSpPr/>
            <p:nvPr/>
          </p:nvSpPr>
          <p:spPr>
            <a:xfrm>
              <a:off x="1317161" y="361635"/>
              <a:ext cx="11541589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D6DE91-9F8D-C26C-9CAC-10D55FE3DF64}"/>
                </a:ext>
              </a:extLst>
            </p:cNvPr>
            <p:cNvSpPr txBox="1"/>
            <p:nvPr/>
          </p:nvSpPr>
          <p:spPr>
            <a:xfrm>
              <a:off x="1677203" y="334458"/>
              <a:ext cx="5472606" cy="466708"/>
            </a:xfrm>
            <a:prstGeom prst="rect">
              <a:avLst/>
            </a:prstGeom>
            <a:noFill/>
          </p:spPr>
          <p:txBody>
            <a:bodyPr wrap="square" lIns="96434" tIns="48217" rIns="96434" bIns="48217" rtlCol="0">
              <a:spAutoFit/>
            </a:bodyPr>
            <a:lstStyle/>
            <a:p>
              <a:pPr defTabSz="964278"/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AI Agent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14044993-0654-DAD9-29C7-DAE362EEE3C5}"/>
              </a:ext>
            </a:extLst>
          </p:cNvPr>
          <p:cNvSpPr txBox="1"/>
          <p:nvPr/>
        </p:nvSpPr>
        <p:spPr>
          <a:xfrm>
            <a:off x="141421" y="883142"/>
            <a:ext cx="1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数据分析智能体设计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11F02A-2040-6954-0CAF-3583D89BE0DB}"/>
              </a:ext>
            </a:extLst>
          </p:cNvPr>
          <p:cNvSpPr txBox="1"/>
          <p:nvPr/>
        </p:nvSpPr>
        <p:spPr>
          <a:xfrm>
            <a:off x="658579" y="1459744"/>
            <a:ext cx="1154158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程序结构</a:t>
            </a:r>
          </a:p>
        </p:txBody>
      </p: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19777F84-9148-8D5E-9453-86140178FD8A}"/>
              </a:ext>
            </a:extLst>
          </p:cNvPr>
          <p:cNvCxnSpPr>
            <a:cxnSpLocks/>
            <a:stCxn id="11" idx="3"/>
            <a:endCxn id="20" idx="2"/>
          </p:cNvCxnSpPr>
          <p:nvPr/>
        </p:nvCxnSpPr>
        <p:spPr>
          <a:xfrm flipV="1">
            <a:off x="8639408" y="2780889"/>
            <a:ext cx="754539" cy="1258706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C9C4176C-1B9D-94BB-9A1E-79A265FA48B2}"/>
              </a:ext>
            </a:extLst>
          </p:cNvPr>
          <p:cNvCxnSpPr>
            <a:cxnSpLocks/>
            <a:stCxn id="12" idx="1"/>
            <a:endCxn id="20" idx="2"/>
          </p:cNvCxnSpPr>
          <p:nvPr/>
        </p:nvCxnSpPr>
        <p:spPr>
          <a:xfrm rot="10800000">
            <a:off x="9393948" y="2780889"/>
            <a:ext cx="196563" cy="1258706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对话气泡: 椭圆形 30">
            <a:extLst>
              <a:ext uri="{FF2B5EF4-FFF2-40B4-BE49-F238E27FC236}">
                <a16:creationId xmlns:a16="http://schemas.microsoft.com/office/drawing/2014/main" id="{3ACB3EAC-A996-E4DF-BE1F-6E0965B048D0}"/>
              </a:ext>
            </a:extLst>
          </p:cNvPr>
          <p:cNvSpPr/>
          <p:nvPr/>
        </p:nvSpPr>
        <p:spPr>
          <a:xfrm>
            <a:off x="2111839" y="3739929"/>
            <a:ext cx="1376081" cy="257203"/>
          </a:xfrm>
          <a:prstGeom prst="wedgeEllipseCallout">
            <a:avLst/>
          </a:prstGeom>
          <a:solidFill>
            <a:srgbClr val="EA5454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用户输入文本</a:t>
            </a:r>
          </a:p>
        </p:txBody>
      </p: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9E9D8915-C4BE-F5DB-06F4-A9D6ED2B0926}"/>
              </a:ext>
            </a:extLst>
          </p:cNvPr>
          <p:cNvCxnSpPr>
            <a:cxnSpLocks/>
            <a:stCxn id="15" idx="3"/>
            <a:endCxn id="14" idx="0"/>
          </p:cNvCxnSpPr>
          <p:nvPr/>
        </p:nvCxnSpPr>
        <p:spPr>
          <a:xfrm>
            <a:off x="8639408" y="4731671"/>
            <a:ext cx="531999" cy="1564000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43DF7B8A-E1C4-814E-811E-DAF65E5C25B6}"/>
              </a:ext>
            </a:extLst>
          </p:cNvPr>
          <p:cNvCxnSpPr>
            <a:cxnSpLocks/>
            <a:stCxn id="16" idx="1"/>
            <a:endCxn id="14" idx="0"/>
          </p:cNvCxnSpPr>
          <p:nvPr/>
        </p:nvCxnSpPr>
        <p:spPr>
          <a:xfrm rot="10800000" flipV="1">
            <a:off x="9171407" y="4731671"/>
            <a:ext cx="421408" cy="1564000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7EA16CA-8519-5321-5FFD-2989926C3BE7}"/>
              </a:ext>
            </a:extLst>
          </p:cNvPr>
          <p:cNvGrpSpPr/>
          <p:nvPr/>
        </p:nvGrpSpPr>
        <p:grpSpPr>
          <a:xfrm>
            <a:off x="7809982" y="2146911"/>
            <a:ext cx="2333110" cy="914400"/>
            <a:chOff x="8027494" y="2244028"/>
            <a:chExt cx="2333110" cy="9144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D44C4CC-41B3-79EF-08CB-69326DE685A2}"/>
                </a:ext>
              </a:extLst>
            </p:cNvPr>
            <p:cNvSpPr/>
            <p:nvPr/>
          </p:nvSpPr>
          <p:spPr>
            <a:xfrm>
              <a:off x="8862314" y="2541310"/>
              <a:ext cx="1498290" cy="3366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用户输入解析函数</a:t>
              </a:r>
            </a:p>
          </p:txBody>
        </p:sp>
        <p:pic>
          <p:nvPicPr>
            <p:cNvPr id="51" name="图形 50" descr="工具 纯色填充">
              <a:extLst>
                <a:ext uri="{FF2B5EF4-FFF2-40B4-BE49-F238E27FC236}">
                  <a16:creationId xmlns:a16="http://schemas.microsoft.com/office/drawing/2014/main" id="{A2875B9E-2B70-FA82-A6EC-D47BBF8EE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27494" y="2244028"/>
              <a:ext cx="914400" cy="914400"/>
            </a:xfrm>
            <a:prstGeom prst="rect">
              <a:avLst/>
            </a:prstGeom>
          </p:spPr>
        </p:pic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7DE61A38-D629-20C7-514A-AAC18C1BC80E}"/>
              </a:ext>
            </a:extLst>
          </p:cNvPr>
          <p:cNvGrpSpPr/>
          <p:nvPr/>
        </p:nvGrpSpPr>
        <p:grpSpPr>
          <a:xfrm>
            <a:off x="7809982" y="5980877"/>
            <a:ext cx="1968855" cy="914400"/>
            <a:chOff x="8135586" y="6181896"/>
            <a:chExt cx="1968855" cy="9144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5468900-16CC-AA00-2686-762F2F80622A}"/>
                </a:ext>
              </a:extLst>
            </p:cNvPr>
            <p:cNvSpPr/>
            <p:nvPr/>
          </p:nvSpPr>
          <p:spPr>
            <a:xfrm>
              <a:off x="8889581" y="6496690"/>
              <a:ext cx="1214860" cy="3366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数据文件</a:t>
              </a:r>
            </a:p>
          </p:txBody>
        </p:sp>
        <p:pic>
          <p:nvPicPr>
            <p:cNvPr id="64" name="图形 63" descr="文档 纯色填充">
              <a:extLst>
                <a:ext uri="{FF2B5EF4-FFF2-40B4-BE49-F238E27FC236}">
                  <a16:creationId xmlns:a16="http://schemas.microsoft.com/office/drawing/2014/main" id="{72D6EEDE-2F46-28C1-6666-C1A4B14C1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35586" y="6181896"/>
              <a:ext cx="914400" cy="914400"/>
            </a:xfrm>
            <a:prstGeom prst="rect">
              <a:avLst/>
            </a:prstGeom>
          </p:spPr>
        </p:pic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E834E720-C44C-4763-7684-5FAC281BB361}"/>
              </a:ext>
            </a:extLst>
          </p:cNvPr>
          <p:cNvSpPr/>
          <p:nvPr/>
        </p:nvSpPr>
        <p:spPr>
          <a:xfrm>
            <a:off x="658580" y="2003709"/>
            <a:ext cx="11541589" cy="4942762"/>
          </a:xfrm>
          <a:prstGeom prst="rect">
            <a:avLst/>
          </a:prstGeom>
          <a:noFill/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97C0A9D1-D0C5-1A8D-D2BD-49416C41FC18}"/>
              </a:ext>
            </a:extLst>
          </p:cNvPr>
          <p:cNvGrpSpPr/>
          <p:nvPr/>
        </p:nvGrpSpPr>
        <p:grpSpPr>
          <a:xfrm>
            <a:off x="4496780" y="3346359"/>
            <a:ext cx="7424468" cy="2346208"/>
            <a:chOff x="4496780" y="3346359"/>
            <a:chExt cx="7424468" cy="234620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4DBBC96-90BF-EC2E-9AB6-1EC685510579}"/>
                </a:ext>
              </a:extLst>
            </p:cNvPr>
            <p:cNvSpPr/>
            <p:nvPr/>
          </p:nvSpPr>
          <p:spPr>
            <a:xfrm>
              <a:off x="4496780" y="3346359"/>
              <a:ext cx="7424468" cy="2346208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4FB3467-2541-DFB0-3025-10419C930283}"/>
                </a:ext>
              </a:extLst>
            </p:cNvPr>
            <p:cNvSpPr/>
            <p:nvPr/>
          </p:nvSpPr>
          <p:spPr>
            <a:xfrm>
              <a:off x="6300801" y="3564845"/>
              <a:ext cx="2520280" cy="1900168"/>
            </a:xfrm>
            <a:prstGeom prst="rect">
              <a:avLst/>
            </a:prstGeom>
            <a:solidFill>
              <a:schemeClr val="bg1"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854B880-065D-9118-8FD6-B884863AA65B}"/>
                </a:ext>
              </a:extLst>
            </p:cNvPr>
            <p:cNvSpPr/>
            <p:nvPr/>
          </p:nvSpPr>
          <p:spPr>
            <a:xfrm>
              <a:off x="9276654" y="3564845"/>
              <a:ext cx="2520280" cy="1900168"/>
            </a:xfrm>
            <a:prstGeom prst="rect">
              <a:avLst/>
            </a:prstGeom>
            <a:solidFill>
              <a:schemeClr val="bg1"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201E560-8289-8AA1-2EF7-B8A210DECE25}"/>
                </a:ext>
              </a:extLst>
            </p:cNvPr>
            <p:cNvSpPr/>
            <p:nvPr/>
          </p:nvSpPr>
          <p:spPr>
            <a:xfrm>
              <a:off x="6623184" y="3803361"/>
              <a:ext cx="2016224" cy="472468"/>
            </a:xfrm>
            <a:prstGeom prst="rect">
              <a:avLst/>
            </a:prstGeom>
            <a:solidFill>
              <a:srgbClr val="FFFF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用户输入解析模块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9B12C32-827E-40B7-937F-C92B6BF76046}"/>
                </a:ext>
              </a:extLst>
            </p:cNvPr>
            <p:cNvSpPr/>
            <p:nvPr/>
          </p:nvSpPr>
          <p:spPr>
            <a:xfrm>
              <a:off x="9590510" y="3803361"/>
              <a:ext cx="2016224" cy="472468"/>
            </a:xfrm>
            <a:prstGeom prst="rect">
              <a:avLst/>
            </a:prstGeom>
            <a:solidFill>
              <a:srgbClr val="FFFF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用户输入解析模块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A9BDA4F-173C-6862-0859-9DBD69A268CC}"/>
                </a:ext>
              </a:extLst>
            </p:cNvPr>
            <p:cNvSpPr/>
            <p:nvPr/>
          </p:nvSpPr>
          <p:spPr>
            <a:xfrm>
              <a:off x="4692082" y="4717384"/>
              <a:ext cx="1201215" cy="349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Assist-agent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95E3FD0-6764-663C-D86F-7A8341B9E20D}"/>
                </a:ext>
              </a:extLst>
            </p:cNvPr>
            <p:cNvSpPr/>
            <p:nvPr/>
          </p:nvSpPr>
          <p:spPr>
            <a:xfrm>
              <a:off x="6623184" y="4495437"/>
              <a:ext cx="2016224" cy="472468"/>
            </a:xfrm>
            <a:prstGeom prst="rect">
              <a:avLst/>
            </a:prstGeom>
            <a:solidFill>
              <a:srgbClr val="FFFF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绘图模块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1E48F49-385D-606E-EE0F-597D9F16B775}"/>
                </a:ext>
              </a:extLst>
            </p:cNvPr>
            <p:cNvSpPr/>
            <p:nvPr/>
          </p:nvSpPr>
          <p:spPr>
            <a:xfrm>
              <a:off x="9592815" y="4495437"/>
              <a:ext cx="2016224" cy="472468"/>
            </a:xfrm>
            <a:prstGeom prst="rect">
              <a:avLst/>
            </a:prstGeom>
            <a:solidFill>
              <a:srgbClr val="FFFF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图像分析模块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A7E396F-ECC0-143C-DD5C-AD07F12ABBCE}"/>
                </a:ext>
              </a:extLst>
            </p:cNvPr>
            <p:cNvSpPr txBox="1"/>
            <p:nvPr/>
          </p:nvSpPr>
          <p:spPr>
            <a:xfrm>
              <a:off x="6873339" y="5019165"/>
              <a:ext cx="1515913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工具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32DDB89-BF1D-FFB4-602D-7CE0CA93402D}"/>
                </a:ext>
              </a:extLst>
            </p:cNvPr>
            <p:cNvSpPr txBox="1"/>
            <p:nvPr/>
          </p:nvSpPr>
          <p:spPr>
            <a:xfrm>
              <a:off x="9778837" y="5019165"/>
              <a:ext cx="1515913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工具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8" name="图形 77" descr="机器人 纯色填充">
              <a:extLst>
                <a:ext uri="{FF2B5EF4-FFF2-40B4-BE49-F238E27FC236}">
                  <a16:creationId xmlns:a16="http://schemas.microsoft.com/office/drawing/2014/main" id="{18EE6676-F560-44AF-5A22-C435C0E4B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16584" y="3868531"/>
              <a:ext cx="914400" cy="914400"/>
            </a:xfrm>
            <a:prstGeom prst="rect">
              <a:avLst/>
            </a:prstGeom>
          </p:spPr>
        </p:pic>
      </p:grp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958BDF6-562E-9157-5CF1-44A157464D8E}"/>
              </a:ext>
            </a:extLst>
          </p:cNvPr>
          <p:cNvCxnSpPr>
            <a:cxnSpLocks/>
          </p:cNvCxnSpPr>
          <p:nvPr/>
        </p:nvCxnSpPr>
        <p:spPr>
          <a:xfrm>
            <a:off x="3657152" y="3868531"/>
            <a:ext cx="756000" cy="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图形 2" descr="用户 纯色填充">
            <a:extLst>
              <a:ext uri="{FF2B5EF4-FFF2-40B4-BE49-F238E27FC236}">
                <a16:creationId xmlns:a16="http://schemas.microsoft.com/office/drawing/2014/main" id="{49FA65FB-ECAC-F595-1E78-4F04C070C1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7262" y="4017533"/>
            <a:ext cx="914400" cy="914400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EA0493C-2082-3643-F700-DCBA73E3394D}"/>
              </a:ext>
            </a:extLst>
          </p:cNvPr>
          <p:cNvCxnSpPr>
            <a:cxnSpLocks/>
          </p:cNvCxnSpPr>
          <p:nvPr/>
        </p:nvCxnSpPr>
        <p:spPr>
          <a:xfrm flipH="1">
            <a:off x="3657152" y="5200501"/>
            <a:ext cx="756000" cy="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波形 16">
            <a:extLst>
              <a:ext uri="{FF2B5EF4-FFF2-40B4-BE49-F238E27FC236}">
                <a16:creationId xmlns:a16="http://schemas.microsoft.com/office/drawing/2014/main" id="{40802D1A-0DFA-1BC0-F344-22422EE4B158}"/>
              </a:ext>
            </a:extLst>
          </p:cNvPr>
          <p:cNvSpPr/>
          <p:nvPr/>
        </p:nvSpPr>
        <p:spPr>
          <a:xfrm>
            <a:off x="2111838" y="4920999"/>
            <a:ext cx="1376081" cy="544000"/>
          </a:xfrm>
          <a:prstGeom prst="wave">
            <a:avLst/>
          </a:prstGeom>
          <a:solidFill>
            <a:srgbClr val="92D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334859"/>
                </a:solidFill>
              </a:rPr>
              <a:t>分析结果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26732B1-6D08-558A-DBE0-DD6212F14B73}"/>
              </a:ext>
            </a:extLst>
          </p:cNvPr>
          <p:cNvCxnSpPr>
            <a:cxnSpLocks/>
          </p:cNvCxnSpPr>
          <p:nvPr/>
        </p:nvCxnSpPr>
        <p:spPr>
          <a:xfrm flipV="1">
            <a:off x="1676849" y="3997132"/>
            <a:ext cx="360038" cy="292404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280684F-32E6-04B5-D9AC-E093F01BE0F5}"/>
              </a:ext>
            </a:extLst>
          </p:cNvPr>
          <p:cNvCxnSpPr>
            <a:cxnSpLocks/>
          </p:cNvCxnSpPr>
          <p:nvPr/>
        </p:nvCxnSpPr>
        <p:spPr>
          <a:xfrm flipH="1" flipV="1">
            <a:off x="1676849" y="4840461"/>
            <a:ext cx="360038" cy="288032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92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CE11A-A477-7708-2E1B-A512985E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BF4EC1A-BE90-008B-E891-E4ED56A23105}"/>
              </a:ext>
            </a:extLst>
          </p:cNvPr>
          <p:cNvGrpSpPr/>
          <p:nvPr/>
        </p:nvGrpSpPr>
        <p:grpSpPr>
          <a:xfrm>
            <a:off x="0" y="303957"/>
            <a:ext cx="12858396" cy="466708"/>
            <a:chOff x="354" y="334458"/>
            <a:chExt cx="12858396" cy="4667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AD62FC9-0CEF-1998-2E12-A156C82BC2D9}"/>
                </a:ext>
              </a:extLst>
            </p:cNvPr>
            <p:cNvSpPr/>
            <p:nvPr/>
          </p:nvSpPr>
          <p:spPr>
            <a:xfrm>
              <a:off x="354" y="361635"/>
              <a:ext cx="1244799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4C1C0CB-C2B1-62EB-00DC-F89729136F20}"/>
                </a:ext>
              </a:extLst>
            </p:cNvPr>
            <p:cNvSpPr/>
            <p:nvPr/>
          </p:nvSpPr>
          <p:spPr>
            <a:xfrm>
              <a:off x="1317161" y="361635"/>
              <a:ext cx="11541589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088B1C1-1CE9-132B-94F7-C1E147DFD477}"/>
                </a:ext>
              </a:extLst>
            </p:cNvPr>
            <p:cNvSpPr txBox="1"/>
            <p:nvPr/>
          </p:nvSpPr>
          <p:spPr>
            <a:xfrm>
              <a:off x="1677203" y="334458"/>
              <a:ext cx="5472606" cy="466708"/>
            </a:xfrm>
            <a:prstGeom prst="rect">
              <a:avLst/>
            </a:prstGeom>
            <a:noFill/>
          </p:spPr>
          <p:txBody>
            <a:bodyPr wrap="square" lIns="96434" tIns="48217" rIns="96434" bIns="48217" rtlCol="0">
              <a:spAutoFit/>
            </a:bodyPr>
            <a:lstStyle/>
            <a:p>
              <a:pPr defTabSz="964278"/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AI Agent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92BC4A0D-8889-1B43-86BA-A69D265D80D5}"/>
              </a:ext>
            </a:extLst>
          </p:cNvPr>
          <p:cNvSpPr txBox="1"/>
          <p:nvPr/>
        </p:nvSpPr>
        <p:spPr>
          <a:xfrm>
            <a:off x="141421" y="883142"/>
            <a:ext cx="1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xxx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8E62D2-B64F-207C-D99D-ADECC8222A0F}"/>
              </a:ext>
            </a:extLst>
          </p:cNvPr>
          <p:cNvSpPr txBox="1"/>
          <p:nvPr/>
        </p:nvSpPr>
        <p:spPr>
          <a:xfrm>
            <a:off x="596727" y="1651406"/>
            <a:ext cx="11384753" cy="1998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输入数据的组织原则，用户怎样确定需要用于分析的数据？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● 让用户强制在页面选择，类似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DeepSeek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网页版的上传附件；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● 从用户自然语言中提取出所需的数据参数，要求精准匹配，较难实现；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工具的功能范围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多智体？</a:t>
            </a:r>
          </a:p>
        </p:txBody>
      </p:sp>
    </p:spTree>
    <p:extLst>
      <p:ext uri="{BB962C8B-B14F-4D97-AF65-F5344CB8AC3E}">
        <p14:creationId xmlns:p14="http://schemas.microsoft.com/office/powerpoint/2010/main" val="29036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CC507-16D6-392D-6C70-8B815D23F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2388390-3D22-0DC3-242E-825789733169}"/>
              </a:ext>
            </a:extLst>
          </p:cNvPr>
          <p:cNvGrpSpPr/>
          <p:nvPr/>
        </p:nvGrpSpPr>
        <p:grpSpPr>
          <a:xfrm>
            <a:off x="0" y="303957"/>
            <a:ext cx="12858396" cy="466708"/>
            <a:chOff x="354" y="334458"/>
            <a:chExt cx="12858396" cy="4667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F695025-A50C-3E29-245A-6ED196B000C0}"/>
                </a:ext>
              </a:extLst>
            </p:cNvPr>
            <p:cNvSpPr/>
            <p:nvPr/>
          </p:nvSpPr>
          <p:spPr>
            <a:xfrm>
              <a:off x="354" y="361635"/>
              <a:ext cx="1244799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B567A59-F50C-FB81-FB71-6F4C4076F6BF}"/>
                </a:ext>
              </a:extLst>
            </p:cNvPr>
            <p:cNvSpPr/>
            <p:nvPr/>
          </p:nvSpPr>
          <p:spPr>
            <a:xfrm>
              <a:off x="1317161" y="361635"/>
              <a:ext cx="11541589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0E6AFE3-9CB3-12B2-745C-07CD01BB448F}"/>
                </a:ext>
              </a:extLst>
            </p:cNvPr>
            <p:cNvSpPr txBox="1"/>
            <p:nvPr/>
          </p:nvSpPr>
          <p:spPr>
            <a:xfrm>
              <a:off x="1677203" y="334458"/>
              <a:ext cx="5472606" cy="466708"/>
            </a:xfrm>
            <a:prstGeom prst="rect">
              <a:avLst/>
            </a:prstGeom>
            <a:noFill/>
          </p:spPr>
          <p:txBody>
            <a:bodyPr wrap="square" lIns="96434" tIns="48217" rIns="96434" bIns="48217" rtlCol="0">
              <a:spAutoFit/>
            </a:bodyPr>
            <a:lstStyle/>
            <a:p>
              <a:pPr defTabSz="964278"/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AI Agent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CC619DE7-44EF-EF9D-D82A-6B02484B960C}"/>
              </a:ext>
            </a:extLst>
          </p:cNvPr>
          <p:cNvSpPr txBox="1"/>
          <p:nvPr/>
        </p:nvSpPr>
        <p:spPr>
          <a:xfrm>
            <a:off x="141421" y="883142"/>
            <a:ext cx="1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xxx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40D467-7F2A-DE0B-E30C-431CDBAF04D6}"/>
              </a:ext>
            </a:extLst>
          </p:cNvPr>
          <p:cNvSpPr txBox="1"/>
          <p:nvPr/>
        </p:nvSpPr>
        <p:spPr>
          <a:xfrm>
            <a:off x="596727" y="1651406"/>
            <a:ext cx="1138475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构建质量知识图谱，通过图分析进行质量追溯</a:t>
            </a:r>
          </a:p>
        </p:txBody>
      </p:sp>
    </p:spTree>
    <p:extLst>
      <p:ext uri="{BB962C8B-B14F-4D97-AF65-F5344CB8AC3E}">
        <p14:creationId xmlns:p14="http://schemas.microsoft.com/office/powerpoint/2010/main" val="187587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CBDF-5409-68AC-7FD0-E2B73A9B4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13AAE0F-36F8-72BB-3C76-E189309753D5}"/>
              </a:ext>
            </a:extLst>
          </p:cNvPr>
          <p:cNvGrpSpPr/>
          <p:nvPr/>
        </p:nvGrpSpPr>
        <p:grpSpPr>
          <a:xfrm>
            <a:off x="0" y="303957"/>
            <a:ext cx="12858396" cy="466708"/>
            <a:chOff x="354" y="334458"/>
            <a:chExt cx="12858396" cy="4667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AE81ABE-F48A-1A3F-9419-BB46770486A8}"/>
                </a:ext>
              </a:extLst>
            </p:cNvPr>
            <p:cNvSpPr/>
            <p:nvPr/>
          </p:nvSpPr>
          <p:spPr>
            <a:xfrm>
              <a:off x="354" y="361635"/>
              <a:ext cx="1244799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896CF5F-68D5-3BA8-FB05-B25741D861D7}"/>
                </a:ext>
              </a:extLst>
            </p:cNvPr>
            <p:cNvSpPr/>
            <p:nvPr/>
          </p:nvSpPr>
          <p:spPr>
            <a:xfrm>
              <a:off x="1317161" y="361635"/>
              <a:ext cx="11541589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34" tIns="48217" rIns="96434" bIns="48217" rtlCol="0" anchor="ctr"/>
            <a:lstStyle/>
            <a:p>
              <a:pPr algn="ctr" defTabSz="964278"/>
              <a:endParaRPr lang="zh-CN" altLang="en-US" sz="1969">
                <a:solidFill>
                  <a:srgbClr val="E7E6E6">
                    <a:lumMod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B9218FC-A02E-71E8-93CF-9CE6E7FFC758}"/>
                </a:ext>
              </a:extLst>
            </p:cNvPr>
            <p:cNvSpPr txBox="1"/>
            <p:nvPr/>
          </p:nvSpPr>
          <p:spPr>
            <a:xfrm>
              <a:off x="1677203" y="334458"/>
              <a:ext cx="5472606" cy="466708"/>
            </a:xfrm>
            <a:prstGeom prst="rect">
              <a:avLst/>
            </a:prstGeom>
            <a:noFill/>
          </p:spPr>
          <p:txBody>
            <a:bodyPr wrap="square" lIns="96434" tIns="48217" rIns="96434" bIns="48217" rtlCol="0">
              <a:spAutoFit/>
            </a:bodyPr>
            <a:lstStyle/>
            <a:p>
              <a:pPr defTabSz="964278"/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AI Agent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2A1C8E2A-1C9F-1739-6E40-9453ACC99D51}"/>
              </a:ext>
            </a:extLst>
          </p:cNvPr>
          <p:cNvSpPr txBox="1"/>
          <p:nvPr/>
        </p:nvSpPr>
        <p:spPr>
          <a:xfrm>
            <a:off x="141421" y="883142"/>
            <a:ext cx="1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775E35-3F7F-140E-4BF3-C74DE1485D11}"/>
              </a:ext>
            </a:extLst>
          </p:cNvPr>
          <p:cNvSpPr txBox="1"/>
          <p:nvPr/>
        </p:nvSpPr>
        <p:spPr>
          <a:xfrm>
            <a:off x="596727" y="1651406"/>
            <a:ext cx="11384753" cy="172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参考链接：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https://zhuanlan.zhihu.com/p/24984398019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Langsimth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Arize</a:t>
            </a:r>
          </a:p>
          <a:p>
            <a:pPr>
              <a:lnSpc>
                <a:spcPct val="150000"/>
              </a:lnSpc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204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66E3-16EB-922F-A0A3-2786C6B4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259">
            <a:extLst>
              <a:ext uri="{FF2B5EF4-FFF2-40B4-BE49-F238E27FC236}">
                <a16:creationId xmlns:a16="http://schemas.microsoft.com/office/drawing/2014/main" id="{E1D0FDA0-F098-0DCD-FF69-F4BA6A44F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610" y="2583261"/>
            <a:ext cx="765752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6000" b="1" cap="all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请各位领导批评指正</a:t>
            </a:r>
          </a:p>
        </p:txBody>
      </p:sp>
      <p:sp>
        <p:nvSpPr>
          <p:cNvPr id="11" name="矩形 259">
            <a:extLst>
              <a:ext uri="{FF2B5EF4-FFF2-40B4-BE49-F238E27FC236}">
                <a16:creationId xmlns:a16="http://schemas.microsoft.com/office/drawing/2014/main" id="{ECB45A56-DC3C-3309-15C9-E16F1318C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894" y="3872686"/>
            <a:ext cx="615496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3600" cap="all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谢谢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60BCDD8D-EC02-7B8B-44E1-8E6C4104BE17}"/>
              </a:ext>
            </a:extLst>
          </p:cNvPr>
          <p:cNvSpPr>
            <a:spLocks/>
          </p:cNvSpPr>
          <p:nvPr/>
        </p:nvSpPr>
        <p:spPr bwMode="auto">
          <a:xfrm>
            <a:off x="0" y="4552428"/>
            <a:ext cx="4493276" cy="2680221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FA73AB4A-5B5A-B08B-FCE5-61E7E8EB9B0C}"/>
              </a:ext>
            </a:extLst>
          </p:cNvPr>
          <p:cNvSpPr>
            <a:spLocks/>
          </p:cNvSpPr>
          <p:nvPr/>
        </p:nvSpPr>
        <p:spPr bwMode="auto">
          <a:xfrm>
            <a:off x="786091" y="4063826"/>
            <a:ext cx="12072659" cy="3168823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C2C5DE-4699-F338-9AF5-F6B09328AADD}"/>
              </a:ext>
            </a:extLst>
          </p:cNvPr>
          <p:cNvSpPr/>
          <p:nvPr/>
        </p:nvSpPr>
        <p:spPr>
          <a:xfrm>
            <a:off x="196464" y="161571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www.1ppt.com/jiaoan/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论坛：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2155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5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15" grpId="0" animBg="1"/>
      <p:bldP spid="1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bt020.pp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第一PPT，www.1ppt.com">
  <a:themeElements>
    <a:clrScheme name="自定义 1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C0"/>
      </a:accent1>
      <a:accent2>
        <a:srgbClr val="A5A5A5"/>
      </a:accent2>
      <a:accent3>
        <a:srgbClr val="0070C0"/>
      </a:accent3>
      <a:accent4>
        <a:srgbClr val="A5A5A5"/>
      </a:accent4>
      <a:accent5>
        <a:srgbClr val="0070C0"/>
      </a:accent5>
      <a:accent6>
        <a:srgbClr val="A5A5A5"/>
      </a:accent6>
      <a:hlink>
        <a:srgbClr val="0070C0"/>
      </a:hlink>
      <a:folHlink>
        <a:srgbClr val="A5A5A5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940</TotalTime>
  <Words>1414</Words>
  <Application>Microsoft Office PowerPoint</Application>
  <PresentationFormat>自定义</PresentationFormat>
  <Paragraphs>128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 Unicode MS</vt:lpstr>
      <vt:lpstr>DFMincho-SU</vt:lpstr>
      <vt:lpstr>黑体</vt:lpstr>
      <vt:lpstr>微软雅黑</vt:lpstr>
      <vt:lpstr>Arial</vt:lpstr>
      <vt:lpstr>Calibri</vt:lpstr>
      <vt:lpstr>Courier New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f</dc:creator>
  <cp:keywords>http:/www.ypppt.com</cp:keywords>
  <cp:lastModifiedBy>zh f</cp:lastModifiedBy>
  <cp:revision>112</cp:revision>
  <dcterms:created xsi:type="dcterms:W3CDTF">2016-09-17T14:53:56Z</dcterms:created>
  <dcterms:modified xsi:type="dcterms:W3CDTF">2025-04-14T02:02:52Z</dcterms:modified>
</cp:coreProperties>
</file>